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107259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 Teoria e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Varredura Heurística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365760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A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Avaliação de Usabilidade e Propostas de Redesign em Interfaces Digitais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803904" y="4434840"/>
            <a:ext cx="4572000" cy="457200"/>
          </a:xfrm>
          <a:prstGeom prst="roundRect">
            <a:avLst>
              <a:gd name="adj" fmla="val 50000"/>
            </a:avLst>
          </a:prstGeom>
          <a:solidFill>
            <a:srgbClr val="16324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803904" y="4434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Feito por: Rafael Faria e Lucas Yuji Uhieda | Design Gráfico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2880360"/>
            <a:ext cx="182880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01752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Fundamentos das Heurísticas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794760"/>
            <a:ext cx="9445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relação entre carga cognitiva, tomada de decisão e a construção de experiências fluidas no design de interfaces.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Tomada de Decisão: Sistema 1 e 2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Processamento Cognitivo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Decisões Diárias (Sistema 1): </a:t>
            </a:r>
            <a:pPr indent="0" marL="0">
              <a:buNone/>
            </a:pPr>
            <a:r>
              <a:rPr lang="en-US" sz="1300" dirty="0">
                <a:solidFill>
                  <a:srgbClr val="AA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Rápido, automático, inconsciente e suscetível a erros quando a interface gera ruído.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4612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Decisões Complexas (Sistema 2): </a:t>
            </a:r>
            <a:pPr indent="0" marL="0">
              <a:buNone/>
            </a:pPr>
            <a:r>
              <a:rPr lang="en-US" sz="1300" dirty="0">
                <a:solidFill>
                  <a:srgbClr val="AA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Lento, consciente, exige esforço mental e alta atenção do usuário.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38912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no Design: </a:t>
            </a:r>
            <a:pPr indent="0" marL="0">
              <a:buNone/>
            </a:pPr>
            <a:r>
              <a:rPr lang="en-US" sz="1300" dirty="0">
                <a:solidFill>
                  <a:srgbClr val="AA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Reduzir a carga mental do Sistema 2 aplicando heurísticas que tornem a navegação previsível e intuitiva.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720840" y="1371600"/>
            <a:ext cx="493776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2A3A57"/>
            </a:solidFill>
            <a:prstDash val="solid"/>
          </a:ln>
        </p:spPr>
      </p:sp>
      <p:pic>
        <p:nvPicPr>
          <p:cNvPr id="8" name="Image 0" descr="images/img-00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03720" y="1554480"/>
            <a:ext cx="4572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2880360"/>
            <a:ext cx="182880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01752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Estudo de Caso 1: Santander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794760"/>
            <a:ext cx="9445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 fragmentação de ecossistema e perda de consistência no aplicativo bancário.</a:t>
            </a:r>
            <a:endParaRPr lang="en-US" sz="1400" dirty="0"/>
          </a:p>
        </p:txBody>
      </p:sp>
      <p:pic>
        <p:nvPicPr>
          <p:cNvPr id="5" name="Image 0" descr="images/img-0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0448" y="1965960"/>
            <a:ext cx="457200" cy="5760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Santander: Diagnóstico do Problema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6309360" cy="1965960"/>
          </a:xfrm>
          <a:prstGeom prst="roundRect">
            <a:avLst>
              <a:gd name="adj" fmla="val 3721"/>
            </a:avLst>
          </a:prstGeom>
          <a:solidFill>
            <a:srgbClr val="17233C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82880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Fragmentação de Funções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28600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A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Funções centrais como investimentos (Santander Corretora) e gestão de cartões (Santander Way) foram divididas em múltiplos aplicativos separados sem necessidade clara.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3840480"/>
            <a:ext cx="6309360" cy="1965960"/>
          </a:xfrm>
          <a:prstGeom prst="roundRect">
            <a:avLst>
              <a:gd name="adj" fmla="val 3721"/>
            </a:avLst>
          </a:prstGeom>
          <a:solidFill>
            <a:srgbClr val="17233C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406908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Redundância e Redirecionamento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52628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A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aplicativo Santander Way tornou-se obsoleto ao deixar de oferecer serviços diretos, funcionando apenas como um atalho que redireciona o usuário de volta ao app principal.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60920" y="1234440"/>
            <a:ext cx="4297680" cy="51206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2A3A57"/>
            </a:solidFill>
            <a:prstDash val="solid"/>
          </a:ln>
        </p:spPr>
      </p:sp>
      <p:pic>
        <p:nvPicPr>
          <p:cNvPr id="10" name="Image 0" descr="images/img-00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35240" y="1417320"/>
            <a:ext cx="3749040" cy="475488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360920" y="63550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A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Print: tela de apps do usuário evidenciando a fragmentação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Santander: Violações Heurísticas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2834640" cy="2331720"/>
          </a:xfrm>
          <a:prstGeom prst="roundRect">
            <a:avLst>
              <a:gd name="adj" fmla="val 3137"/>
            </a:avLst>
          </a:prstGeom>
          <a:solidFill>
            <a:srgbClr val="24101B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87452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pPr algn="ctr" indent="0" marL="0">
              <a:buNone/>
            </a:pPr>
            <a:r>
              <a:rPr lang="en-US" sz="2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/10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461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Grau de Severidade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657600" y="16916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Heurísticas Violadas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219456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Consistência e Padrões: </a:t>
            </a:r>
            <a:pPr indent="0" marL="0">
              <a:buNone/>
            </a:pPr>
            <a:r>
              <a:rPr lang="en-US" sz="1150" dirty="0">
                <a:solidFill>
                  <a:srgbClr val="AA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banco alterou um padrão estabelecido ao dispersar recursos em vários apps desnecessários.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324612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Eficiência e Atalhos: </a:t>
            </a:r>
            <a:pPr indent="0" marL="0">
              <a:buNone/>
            </a:pPr>
            <a:r>
              <a:rPr lang="en-US" sz="1150" dirty="0">
                <a:solidFill>
                  <a:srgbClr val="AA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Foram criados atalhos redundantes que geram confusão e atrasam a conclusão das tarefas do usuário.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429768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Estética e Design Minimalista: </a:t>
            </a:r>
            <a:pPr indent="0" marL="0">
              <a:buNone/>
            </a:pPr>
            <a:r>
              <a:rPr lang="en-US" sz="1150" dirty="0">
                <a:solidFill>
                  <a:srgbClr val="AA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Excesso de touchpoints que poluem a tela do smartphone e degradam a experiência do usuário.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83880" y="1417320"/>
            <a:ext cx="3474720" cy="48463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2A3A57"/>
            </a:solidFill>
            <a:prstDash val="solid"/>
          </a:ln>
        </p:spPr>
      </p:sp>
      <p:pic>
        <p:nvPicPr>
          <p:cNvPr id="11" name="Image 0" descr="images/img-00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366760" y="1600200"/>
            <a:ext cx="3108960" cy="448056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183880" y="6309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A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Print: aviso de descontinuação do app Way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12864" y="0"/>
            <a:ext cx="5276088" cy="6858000"/>
          </a:xfrm>
          <a:prstGeom prst="rect">
            <a:avLst/>
          </a:prstGeom>
          <a:solidFill>
            <a:srgbClr val="0F1B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Santander: Proposta de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Redesign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Tudo em Um Lugar Só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2316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Reunificação de todas as funcionalidades essenciais (conta, cartões e investimentos) em uma única aplicação central do Banco Santander.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2044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Eliminação imediata de aplicativos legados e redundantes, garantindo consistência visual, agilidade e uma jornada de navegação limpa.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223760" y="914400"/>
            <a:ext cx="2148840" cy="4663440"/>
          </a:xfrm>
          <a:prstGeom prst="roundRect">
            <a:avLst>
              <a:gd name="adj" fmla="val 7660"/>
            </a:avLst>
          </a:prstGeom>
          <a:solidFill>
            <a:srgbClr val="5B4FE0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06640" y="1280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balance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$1021.65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601200" y="914400"/>
            <a:ext cx="2011680" cy="4663440"/>
          </a:xfrm>
          <a:prstGeom prst="roundRect">
            <a:avLst>
              <a:gd name="adj" fmla="val 8182"/>
            </a:avLst>
          </a:prstGeom>
          <a:solidFill>
            <a:srgbClr val="E8B84B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784080" y="128016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2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card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A2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· Virtual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A2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$237.12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2880360"/>
            <a:ext cx="182880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01752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Estudo de Caso 2: Portal GOV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794760"/>
            <a:ext cx="9445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 mensagens de erro bloqueantes e ausência de suporte no sistema Bolsa Atleta.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GOV: Mensagem Sem Saída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6309360" cy="1965960"/>
          </a:xfrm>
          <a:prstGeom prst="roundRect">
            <a:avLst>
              <a:gd name="adj" fmla="val 3721"/>
            </a:avLst>
          </a:prstGeom>
          <a:solidFill>
            <a:srgbClr val="17233C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82880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 Abstrato e Sem Contexto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28600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A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tentar acessar o serviço do Bolsa Atleta, o usuário se depara com a mensagem "Serviços indisponíveis no momento", sem explicação da causa ou previsão de retorno.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3840480"/>
            <a:ext cx="6309360" cy="1965960"/>
          </a:xfrm>
          <a:prstGeom prst="roundRect">
            <a:avLst>
              <a:gd name="adj" fmla="val 3721"/>
            </a:avLst>
          </a:prstGeom>
          <a:solidFill>
            <a:srgbClr val="17233C"/>
          </a:solidFill>
          <a:ln w="12700">
            <a:solidFill>
              <a:srgbClr val="2A3A5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406908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Ausência de Caminhos Alternativos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52628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A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tela não apresenta opções de recuperação, impedindo atletas e federações de dar prosseguimento ao pedido de bolsa ou buscar suporte alternativo.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35240" y="1234440"/>
            <a:ext cx="3749040" cy="51206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2A3A57"/>
            </a:solidFill>
            <a:prstDash val="solid"/>
          </a:ln>
        </p:spPr>
      </p:sp>
      <p:pic>
        <p:nvPicPr>
          <p:cNvPr id="10" name="Image 0" descr="images/img-00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18120" y="1417320"/>
            <a:ext cx="3383280" cy="475488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635240" y="63550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A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Print: tela original do portal Bolsa Atleta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GOV: Heurística 9 Violada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2103120"/>
            <a:ext cx="2834640" cy="2331720"/>
          </a:xfrm>
          <a:prstGeom prst="roundRect">
            <a:avLst>
              <a:gd name="adj" fmla="val 3137"/>
            </a:avLst>
          </a:prstGeom>
          <a:solidFill>
            <a:srgbClr val="24101B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28600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pPr algn="ctr" indent="0" marL="0">
              <a:buNone/>
            </a:pPr>
            <a:r>
              <a:rPr lang="en-US" sz="2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/10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Grau de Severidade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657600" y="173736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e Recuperação de Erros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228600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Heurística 9 estabelece que: </a:t>
            </a:r>
            <a:pPr indent="0" marL="0">
              <a:buNone/>
            </a:pPr>
            <a:r>
              <a:rPr lang="en-US" sz="1300" dirty="0">
                <a:solidFill>
                  <a:srgbClr val="AA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mensagens de erro devem ser expressas em linguagem clara, indicar exatamente o problema e propor uma solução construtiva.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3429000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Impacto: </a:t>
            </a:r>
            <a:pPr indent="0" marL="0">
              <a:buNone/>
            </a:pPr>
            <a:r>
              <a:rPr lang="en-US" sz="1300" dirty="0">
                <a:solidFill>
                  <a:srgbClr val="AA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omitir instruções claras ou alternativas, o portal deixa o cidadão desamparado, impedindo a conclusão de uma tarefa crítica de utilidade pública.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12864" y="0"/>
            <a:ext cx="5276088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GOV: Redesign Construtivo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Transparência e Suporte Ativo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4884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Informar o motivo da indisponibilidade técnica e a estimativa do tempo de normalização dos servidores.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5468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Disponibilizar botão de 'Tentar Novamente' e direcionamentos para canais alternativos de atendimento (aplicativo móvel, telefone central ou agendamento presencial).</a:t>
            </a:r>
            <a:endParaRPr lang="en-US" sz="1300" dirty="0"/>
          </a:p>
        </p:txBody>
      </p:sp>
      <p:pic>
        <p:nvPicPr>
          <p:cNvPr id="7" name="Image 0" descr="images/img-00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0" y="457200"/>
            <a:ext cx="3474720" cy="5943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004304" y="6446520"/>
            <a:ext cx="5093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Rascunho original do redesign proposto pelos autores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10312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Obrigado!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306324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Interfaces claras reduzem a fricção e melhoram a vida das pessoas.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61188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Gráfico 2026 | Análise Heurística em UX Design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Sources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https://miro.medium.com/v2/resize:fit:1000/1*j304IeQlatH2Gvm0q1PSGg.png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uxdesign.cc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0725912" cy="0"/>
          </a:xfrm>
          <a:prstGeom prst="line">
            <a:avLst/>
          </a:prstGeom>
          <a:noFill/>
          <a:ln w="9525">
            <a:solidFill>
              <a:srgbClr val="2A3A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606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https://cdn.dribbble.com/userupload/45520398/file/c4319c4321ea731beb6c9d580716f41c.jpg?resize=752x&amp;vertical=center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9718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dribbble.com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429000"/>
            <a:ext cx="10725912" cy="0"/>
          </a:xfrm>
          <a:prstGeom prst="line">
            <a:avLst/>
          </a:prstGeom>
          <a:noFill/>
          <a:ln w="9525">
            <a:solidFill>
              <a:srgbClr val="2A3A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657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https://thestory.is/en/media/uploads/2024/09/30/custom-error-page-2.png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0233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thestory.is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480560"/>
            <a:ext cx="10725912" cy="0"/>
          </a:xfrm>
          <a:prstGeom prst="line">
            <a:avLst/>
          </a:prstGeom>
          <a:noFill/>
          <a:ln w="9525">
            <a:solidFill>
              <a:srgbClr val="2A3A5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4709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Prints de tela e diagrama de apoio: registrados/elaborados pelos autores (Rafael Faria e Lucas Yuji Uhieda) durante a varredura heurística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074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teorias_Heuristicas.pdf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532120"/>
            <a:ext cx="10725912" cy="0"/>
          </a:xfrm>
          <a:prstGeom prst="line">
            <a:avLst/>
          </a:prstGeom>
          <a:noFill/>
          <a:ln w="9525">
            <a:solidFill>
              <a:srgbClr val="2A3A57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2026-09-08T14:27:38Z</dcterms:created>
  <dcterms:modified xsi:type="dcterms:W3CDTF">2026-09-08T14:27:38Z</dcterms:modified>
</cp:coreProperties>
</file>